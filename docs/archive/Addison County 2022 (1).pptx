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696CFF-CB44-43B6-A537-DFE54D2A885A}" v="72" dt="2022-05-19T16:58:59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4EEC-E122-81D4-8C11-CA5E52B03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29C2F-3059-EB91-9E56-78AA896A9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3BCEC-C84C-6887-477B-2204019C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E0D15-C655-52BF-678D-D6DCD287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B4368-3C9F-EF2E-4681-CFF39962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4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DC13-F446-4AE4-446B-F07F6E25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3EECE-1009-1D3F-DDB3-B3625F92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C792-D7F2-FAC0-E291-16E3F41A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68286-20B5-57BA-D1EB-248A7562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AAF71-066D-C2B5-0715-47519DFF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1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4C91-2B72-21DB-D322-BD6F692D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126A1-B3BB-E3DA-08D8-E336E5B40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7BF7C-098D-9823-623E-3B3BDD89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46CA8-50EF-99DA-1C54-23D300BC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40D5-6FA3-F857-DDA0-20065A42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0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6BAA-D221-0ED4-A2F1-63CDFAAA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550FC-5D76-5F1B-DA85-DA2799AFC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E7554-AD83-9F5D-38A9-72E9231D8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0CB3D-82E2-15B0-7982-00112502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E33BC-E8FA-1077-545A-DA166630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3C714-5417-DF6D-0524-EA105855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6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4E6C-F4C8-E432-875A-3C807895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C613-C384-F99C-812D-AE9E3BB8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DA3D6-9D77-7154-927F-28D190973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077C6-00EE-9869-9032-11B4B8180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C951C-81FC-FF21-1466-CA25E8FA3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ECC98-2F9C-A0E9-840A-AF1160EA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8DA4E-4AD8-4706-A7FC-F20EC5B0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C3676-5394-B1BF-1770-B6A13435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8E0D-666D-3E61-E3E4-1D30B606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6BDC5-B3B2-FB6C-B4BD-10720394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A64BC-2212-634D-B56C-C34A1E42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D809A-C4DB-AB27-82CE-30E0C7D0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6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835A0B-9FCF-4B7E-AEF5-C84A93B4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0E64B-C4C3-76D4-C742-056C696A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B5FFE-6400-0A86-3EEB-06C98F78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4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8389-290A-2F03-FE89-AF542FA5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63BC3-B9A1-6D3F-AAB8-E54243BA6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EBB5E-BEAD-24F4-9699-56265191E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0FB70-F8CB-5293-38CA-B09FBCDF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D5F8D-9811-F6B0-6EC8-722F31FD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DA007-4B5F-EDEA-1964-7E559AD5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2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9BA-FDF5-648C-B9D9-487020A0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233657-2F35-BF1B-D5F7-9D8011CD9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CE10D-4604-DB03-2DCD-7F37D5DB4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7312C-A05D-9C4D-4494-5E9BFE3B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355B7-FE02-7083-3EA2-947ED86E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DE7AC-C087-6BB5-D048-57634EF6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371D-DEAE-1F36-E364-71D92068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61790-BCDB-79CC-CE18-7EDA99682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A5F9D-488C-5A8B-8F52-90613776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75E27-20CF-29EB-D479-CBD8B53D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BE8F-04F5-A7E0-82C3-CAA0FBC7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6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EB6CE-9FCA-D8ED-83D0-389BB2221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A6FCE-B5E3-7EA2-16C8-E6479374B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195A2-A060-F82E-B4BA-DF54B486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11337-9169-9D87-7008-6BBB5D6B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730F-D20E-BF4C-C19D-3F019563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0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B4314-3C85-9902-AA6B-E1388EEE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52DCC-3D33-9506-F77B-456184596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E911E-72A8-09B3-343D-4AA03F339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58508-0547-444E-8A62-40A6A7BBB208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DAF43-797E-D4CC-C131-0F362CF89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65999-A8B1-28E1-1D78-C8517D1ED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BD8AF-EA03-4342-9A0B-D35703DD8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66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emf"/><Relationship Id="rId4" Type="http://schemas.openxmlformats.org/officeDocument/2006/relationships/image" Target="../media/image2.wmf"/><Relationship Id="rId9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AFEDC-C8AD-9A51-8C6C-1BFA280E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5" y="146685"/>
            <a:ext cx="10916285" cy="674688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and Workforce Development Report: Addison County, VT</a:t>
            </a:r>
          </a:p>
        </p:txBody>
      </p:sp>
      <p:pic>
        <p:nvPicPr>
          <p:cNvPr id="6" name="Picture 5" descr="/var/folders/_b/tqv8_b0d5b9d45zbb115rm5m0000gp/T/com.microsoft.Word/Content.MSO/AB0A0554.tmp">
            <a:extLst>
              <a:ext uri="{FF2B5EF4-FFF2-40B4-BE49-F238E27FC236}">
                <a16:creationId xmlns:a16="http://schemas.microsoft.com/office/drawing/2014/main" id="{0ECBF133-3BED-7690-6FBA-7F24B732E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668" y="6126480"/>
            <a:ext cx="2244821" cy="5848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F23E489-18B0-FF3F-7796-DC20B16F4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05540" y="111125"/>
          <a:ext cx="7429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43040" imgH="920880" progId="Paint.Picture">
                  <p:embed/>
                </p:oleObj>
              </mc:Choice>
              <mc:Fallback>
                <p:oleObj name="Bitmap Image" r:id="rId3" imgW="743040" imgH="920880" progId="Paint.Pictur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F23E489-18B0-FF3F-7796-DC20B16F4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05540" y="111125"/>
                        <a:ext cx="742950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A8AD246-76A3-D1CF-0793-298CED1BD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000497"/>
              </p:ext>
            </p:extLst>
          </p:nvPr>
        </p:nvGraphicFramePr>
        <p:xfrm>
          <a:off x="1" y="894080"/>
          <a:ext cx="5140960" cy="1471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8096400" imgH="2317680" progId="Paint.Picture">
                  <p:embed/>
                </p:oleObj>
              </mc:Choice>
              <mc:Fallback>
                <p:oleObj name="Bitmap Image" r:id="rId5" imgW="8096400" imgH="2317680" progId="Paint.Pictur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A8AD246-76A3-D1CF-0793-298CED1BD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" y="894080"/>
                        <a:ext cx="5140960" cy="1471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12FB4BA-E0D6-1C40-4657-B41DB8998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002774"/>
              </p:ext>
            </p:extLst>
          </p:nvPr>
        </p:nvGraphicFramePr>
        <p:xfrm>
          <a:off x="0" y="2444426"/>
          <a:ext cx="4643120" cy="196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8115480" imgH="3441600" progId="Paint.Picture">
                  <p:embed/>
                </p:oleObj>
              </mc:Choice>
              <mc:Fallback>
                <p:oleObj name="Bitmap Image" r:id="rId7" imgW="8115480" imgH="3441600" progId="Paint.Pictur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12FB4BA-E0D6-1C40-4657-B41DB8998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2444426"/>
                        <a:ext cx="4643120" cy="1969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4130132-0D08-EE77-ED3A-6E81CA8EA9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649360"/>
              </p:ext>
            </p:extLst>
          </p:nvPr>
        </p:nvGraphicFramePr>
        <p:xfrm>
          <a:off x="-77152" y="4492194"/>
          <a:ext cx="5295265" cy="2083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8070840" imgH="3174840" progId="Paint.Picture">
                  <p:embed/>
                </p:oleObj>
              </mc:Choice>
              <mc:Fallback>
                <p:oleObj name="Bitmap Image" r:id="rId9" imgW="8070840" imgH="3174840" progId="Paint.Pictur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4130132-0D08-EE77-ED3A-6E81CA8EA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-77152" y="4492194"/>
                        <a:ext cx="5295265" cy="2083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4FEB66-86B2-BB9A-D31D-3E1096CFE47B}"/>
              </a:ext>
            </a:extLst>
          </p:cNvPr>
          <p:cNvSpPr txBox="1"/>
          <p:nvPr/>
        </p:nvSpPr>
        <p:spPr>
          <a:xfrm>
            <a:off x="10655502" y="3163679"/>
            <a:ext cx="1160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EMSI, Job Posting Analytics,2022.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B73D356-D7EE-B6F9-9459-19AB9D66B3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577323"/>
              </p:ext>
            </p:extLst>
          </p:nvPr>
        </p:nvGraphicFramePr>
        <p:xfrm>
          <a:off x="5356128" y="4192043"/>
          <a:ext cx="4447540" cy="2527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1" imgW="5765760" imgH="3276720" progId="Paint.Picture">
                  <p:embed/>
                </p:oleObj>
              </mc:Choice>
              <mc:Fallback>
                <p:oleObj name="Bitmap Image" r:id="rId11" imgW="5765760" imgH="3276720" progId="Paint.Picture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B73D356-D7EE-B6F9-9459-19AB9D66B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56128" y="4192043"/>
                        <a:ext cx="4447540" cy="2527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618864E-B2ED-5185-B1F5-01C0FF2CC1D5}"/>
              </a:ext>
            </a:extLst>
          </p:cNvPr>
          <p:cNvSpPr txBox="1"/>
          <p:nvPr/>
        </p:nvSpPr>
        <p:spPr>
          <a:xfrm>
            <a:off x="5473116" y="3894820"/>
            <a:ext cx="483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Top In-Demand Skills in Addison County  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BE7EFDB-A40A-2FF7-34EF-C48E56DA0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377670"/>
              </p:ext>
            </p:extLst>
          </p:nvPr>
        </p:nvGraphicFramePr>
        <p:xfrm>
          <a:off x="5473116" y="1117422"/>
          <a:ext cx="5140960" cy="2816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3" imgW="6699240" imgH="3670200" progId="Paint.Picture">
                  <p:embed/>
                </p:oleObj>
              </mc:Choice>
              <mc:Fallback>
                <p:oleObj name="Bitmap Image" r:id="rId13" imgW="6699240" imgH="3670200" progId="Paint.Picture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BE7EFDB-A40A-2FF7-34EF-C48E56DA0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73116" y="1117422"/>
                        <a:ext cx="5140960" cy="2816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6B63FA1-6E4C-E05E-6CFD-C348763926D8}"/>
              </a:ext>
            </a:extLst>
          </p:cNvPr>
          <p:cNvSpPr txBox="1"/>
          <p:nvPr/>
        </p:nvSpPr>
        <p:spPr>
          <a:xfrm>
            <a:off x="231647" y="6572815"/>
            <a:ext cx="483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EMSI, Economy Overview, 2022.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D70C8-4086-80F5-B81E-D1A455D2A72D}"/>
              </a:ext>
            </a:extLst>
          </p:cNvPr>
          <p:cNvSpPr txBox="1"/>
          <p:nvPr/>
        </p:nvSpPr>
        <p:spPr>
          <a:xfrm>
            <a:off x="5473116" y="802431"/>
            <a:ext cx="483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Top Companies Hiring in Addison County, 2017-2022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985D68-CBD1-10FB-BC12-DCB2949FF189}"/>
              </a:ext>
            </a:extLst>
          </p:cNvPr>
          <p:cNvSpPr txBox="1"/>
          <p:nvPr/>
        </p:nvSpPr>
        <p:spPr>
          <a:xfrm>
            <a:off x="5690567" y="6594901"/>
            <a:ext cx="349034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/>
              <a:t>Source: EMSI, Economy Overview ,2022. </a:t>
            </a:r>
          </a:p>
        </p:txBody>
      </p:sp>
    </p:spTree>
    <p:extLst>
      <p:ext uri="{BB962C8B-B14F-4D97-AF65-F5344CB8AC3E}">
        <p14:creationId xmlns:p14="http://schemas.microsoft.com/office/powerpoint/2010/main" val="418644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AFEDC-C8AD-9A51-8C6C-1BFA280E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5" y="146685"/>
            <a:ext cx="11017885" cy="674688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and Workforce Development Report: Addison County, VT</a:t>
            </a:r>
          </a:p>
        </p:txBody>
      </p:sp>
      <p:pic>
        <p:nvPicPr>
          <p:cNvPr id="6" name="Picture 5" descr="/var/folders/_b/tqv8_b0d5b9d45zbb115rm5m0000gp/T/com.microsoft.Word/Content.MSO/AB0A0554.tmp">
            <a:extLst>
              <a:ext uri="{FF2B5EF4-FFF2-40B4-BE49-F238E27FC236}">
                <a16:creationId xmlns:a16="http://schemas.microsoft.com/office/drawing/2014/main" id="{0ECBF133-3BED-7690-6FBA-7F24B732E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720" y="5999617"/>
            <a:ext cx="2731770" cy="7116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F23E489-18B0-FF3F-7796-DC20B16F4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16896"/>
              </p:ext>
            </p:extLst>
          </p:nvPr>
        </p:nvGraphicFramePr>
        <p:xfrm>
          <a:off x="11305540" y="111125"/>
          <a:ext cx="7429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43040" imgH="920880" progId="Paint.Picture">
                  <p:embed/>
                </p:oleObj>
              </mc:Choice>
              <mc:Fallback>
                <p:oleObj name="Bitmap Image" r:id="rId3" imgW="743040" imgH="920880" progId="Paint.Pictur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F23E489-18B0-FF3F-7796-DC20B16F4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05540" y="111125"/>
                        <a:ext cx="742950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DCB51AE-67DB-512C-B732-C5DFAF566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244735"/>
              </p:ext>
            </p:extLst>
          </p:nvPr>
        </p:nvGraphicFramePr>
        <p:xfrm>
          <a:off x="57972" y="3863397"/>
          <a:ext cx="4187639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7461360" imgH="4768920" progId="Paint.Picture">
                  <p:embed/>
                </p:oleObj>
              </mc:Choice>
              <mc:Fallback>
                <p:oleObj name="Bitmap Image" r:id="rId5" imgW="7461360" imgH="4768920" progId="Paint.Picture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DCB51AE-67DB-512C-B732-C5DFAF566F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72" y="3863397"/>
                        <a:ext cx="4187639" cy="267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0DE12F7-FBF9-520D-C98D-4D46D7CEF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280760"/>
              </p:ext>
            </p:extLst>
          </p:nvPr>
        </p:nvGraphicFramePr>
        <p:xfrm>
          <a:off x="302022" y="1024661"/>
          <a:ext cx="3870614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7245360" imgH="5010120" progId="Paint.Picture">
                  <p:embed/>
                </p:oleObj>
              </mc:Choice>
              <mc:Fallback>
                <p:oleObj name="Bitmap Image" r:id="rId7" imgW="7245360" imgH="5010120" progId="Paint.Picture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C0DE12F7-FBF9-520D-C98D-4D46D7CEF9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2022" y="1024661"/>
                        <a:ext cx="3870614" cy="267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9352F17-2CF8-9A75-84A9-F1BA727028B0}"/>
              </a:ext>
            </a:extLst>
          </p:cNvPr>
          <p:cNvSpPr txBox="1"/>
          <p:nvPr/>
        </p:nvSpPr>
        <p:spPr>
          <a:xfrm>
            <a:off x="152400" y="6581001"/>
            <a:ext cx="483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EMSI, Economy Overview, 2022.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26847-CEE7-E270-F787-71958C92E399}"/>
              </a:ext>
            </a:extLst>
          </p:cNvPr>
          <p:cNvSpPr txBox="1"/>
          <p:nvPr/>
        </p:nvSpPr>
        <p:spPr>
          <a:xfrm>
            <a:off x="302022" y="747662"/>
            <a:ext cx="483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Largest Occupations in Addison County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75C3D-D508-04CF-5521-EAA764805BC0}"/>
              </a:ext>
            </a:extLst>
          </p:cNvPr>
          <p:cNvSpPr txBox="1"/>
          <p:nvPr/>
        </p:nvSpPr>
        <p:spPr>
          <a:xfrm>
            <a:off x="302022" y="3646694"/>
            <a:ext cx="483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Largest Industries in Addison County </a:t>
            </a:r>
          </a:p>
        </p:txBody>
      </p:sp>
      <p:pic>
        <p:nvPicPr>
          <p:cNvPr id="16" name="Picture 15" title="cea_image_cluster">
            <a:extLst>
              <a:ext uri="{FF2B5EF4-FFF2-40B4-BE49-F238E27FC236}">
                <a16:creationId xmlns:a16="http://schemas.microsoft.com/office/drawing/2014/main" id="{D71C48F5-DBAB-C5AD-98F2-0C029E879085}"/>
              </a:ext>
            </a:extLst>
          </p:cNvPr>
          <p:cNvPicPr>
            <a:picLocks/>
          </p:cNvPicPr>
          <p:nvPr/>
        </p:nvPicPr>
        <p:blipFill dpi="300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342" y="932815"/>
            <a:ext cx="6400800" cy="2496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title="cea_image_yoyEmployment">
            <a:extLst>
              <a:ext uri="{FF2B5EF4-FFF2-40B4-BE49-F238E27FC236}">
                <a16:creationId xmlns:a16="http://schemas.microsoft.com/office/drawing/2014/main" id="{0A83E9C8-1F2A-3C4C-0B11-F7A32A56ACFA}"/>
              </a:ext>
            </a:extLst>
          </p:cNvPr>
          <p:cNvPicPr>
            <a:picLocks/>
          </p:cNvPicPr>
          <p:nvPr/>
        </p:nvPicPr>
        <p:blipFill dpi="300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396" y="3646694"/>
            <a:ext cx="640080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D56B34-0C13-B847-493E-9D7D902DA18D}"/>
              </a:ext>
            </a:extLst>
          </p:cNvPr>
          <p:cNvSpPr txBox="1"/>
          <p:nvPr/>
        </p:nvSpPr>
        <p:spPr>
          <a:xfrm>
            <a:off x="5300396" y="5919109"/>
            <a:ext cx="3490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Chmura’s </a:t>
            </a:r>
            <a:r>
              <a:rPr lang="en-US" sz="1200" dirty="0" err="1"/>
              <a:t>JobsEQ</a:t>
            </a:r>
            <a:r>
              <a:rPr lang="en-US" sz="1200" dirty="0"/>
              <a:t>, Industry Snapshot,2022. </a:t>
            </a:r>
          </a:p>
        </p:txBody>
      </p:sp>
    </p:spTree>
    <p:extLst>
      <p:ext uri="{BB962C8B-B14F-4D97-AF65-F5344CB8AC3E}">
        <p14:creationId xmlns:p14="http://schemas.microsoft.com/office/powerpoint/2010/main" val="397223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1bf74a-d0dd-441e-9239-a341273048e9">
      <Terms xmlns="http://schemas.microsoft.com/office/infopath/2007/PartnerControls"/>
    </lcf76f155ced4ddcb4097134ff3c332f>
    <TaxCatchAll xmlns="2f5b7630-9b0d-427c-a6c3-0b6d4084108b" xsi:nil="true"/>
    <Source xmlns="511bf74a-d0dd-441e-9239-a341273048e9" xsi:nil="true"/>
    <Info xmlns="511bf74a-d0dd-441e-9239-a341273048e9" xsi:nil="true"/>
    <Program xmlns="511bf74a-d0dd-441e-9239-a341273048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EDD88D06903344B559C9906EFADC81" ma:contentTypeVersion="22" ma:contentTypeDescription="Create a new document." ma:contentTypeScope="" ma:versionID="743c0a65801b2931ac0c93b4a51972ad">
  <xsd:schema xmlns:xsd="http://www.w3.org/2001/XMLSchema" xmlns:xs="http://www.w3.org/2001/XMLSchema" xmlns:p="http://schemas.microsoft.com/office/2006/metadata/properties" xmlns:ns2="511bf74a-d0dd-441e-9239-a341273048e9" xmlns:ns3="2f5b7630-9b0d-427c-a6c3-0b6d4084108b" targetNamespace="http://schemas.microsoft.com/office/2006/metadata/properties" ma:root="true" ma:fieldsID="fc8ce2888405dedabf22d76318b09614" ns2:_="" ns3:_="">
    <xsd:import namespace="511bf74a-d0dd-441e-9239-a341273048e9"/>
    <xsd:import namespace="2f5b7630-9b0d-427c-a6c3-0b6d408410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Program" minOccurs="0"/>
                <xsd:element ref="ns2:Info" minOccurs="0"/>
                <xsd:element ref="ns2:Sourc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1bf74a-d0dd-441e-9239-a341273048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e77d114-7286-4773-b3f3-9b1cc7669c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rogram" ma:index="26" nillable="true" ma:displayName="Program" ma:format="Dropdown" ma:internalName="Program">
      <xsd:simpleType>
        <xsd:restriction base="dms:Choice">
          <xsd:enumeration value="Internships Summer 2024"/>
          <xsd:enumeration value="Internships Summer 2023"/>
          <xsd:enumeration value="Community Schools"/>
          <xsd:enumeration value="Wastewater Mapping Project"/>
          <xsd:enumeration value="Tech-Jam"/>
          <xsd:enumeration value="Choice 6"/>
        </xsd:restriction>
      </xsd:simpleType>
    </xsd:element>
    <xsd:element name="Info" ma:index="27" nillable="true" ma:displayName="Info" ma:format="Dropdown" ma:internalName="Info">
      <xsd:simpleType>
        <xsd:restriction base="dms:Note">
          <xsd:maxLength value="255"/>
        </xsd:restriction>
      </xsd:simpleType>
    </xsd:element>
    <xsd:element name="Source" ma:index="28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b7630-9b0d-427c-a6c3-0b6d4084108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5879e36-90e0-486e-af52-cb8e62df48f9}" ma:internalName="TaxCatchAll" ma:showField="CatchAllData" ma:web="2f5b7630-9b0d-427c-a6c3-0b6d408410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D541E9-B9FB-4E59-8879-85BF86A252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34E471-E3ED-4C57-92F7-985E4128B1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DD6899C-85B5-4510-ACC7-31BAA8303982}"/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92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Economic and Workforce Development Report: Addison County, VT</vt:lpstr>
      <vt:lpstr>Economic and Workforce Development Report: Addison County, VT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and Workforce Development Report: Addison County, VT</dc:title>
  <dc:creator>Emma Spett</dc:creator>
  <cp:lastModifiedBy>Emma Spett</cp:lastModifiedBy>
  <cp:revision>6</cp:revision>
  <dcterms:created xsi:type="dcterms:W3CDTF">2022-05-19T11:38:50Z</dcterms:created>
  <dcterms:modified xsi:type="dcterms:W3CDTF">2023-05-18T15:16:05Z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0x010100C3EDD88D06903344B559C9906EFADC81</vt:lpwstr>
  </property>
</Properties>
</file>